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5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y_yellow_matc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00200" cy="6721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122074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CLUB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VALOR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36758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E7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Precios claros, planes simples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Briefing para inversionistas  ·  Septiembre 2026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076895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 · propuesta v3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lógica del modelo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85B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Cinco líneas de ingreso, cada una con un rol distinto en el negocio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76656" y="1865376"/>
            <a:ext cx="566928" cy="566928"/>
          </a:xfrm>
          <a:prstGeom prst="ellipse">
            <a:avLst/>
          </a:prstGeom>
          <a:solidFill>
            <a:srgbClr val="35597D"/>
          </a:solidFill>
          <a:ln/>
        </p:spPr>
      </p:sp>
      <p:pic>
        <p:nvPicPr>
          <p:cNvPr id="5" name="Image 0" descr="umbral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57" y="2012777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282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Bienvenida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ADQUISICIÓN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75564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5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Puertas de entrada de bajo costo — prueba y primeras visitas — que convierten curiosidad en el primer pago.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2624328"/>
            <a:ext cx="10652760" cy="0"/>
          </a:xfrm>
          <a:prstGeom prst="line">
            <a:avLst/>
          </a:prstGeom>
          <a:noFill/>
          <a:ln w="12700">
            <a:solidFill>
              <a:srgbClr val="D9CB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2761488"/>
            <a:ext cx="566928" cy="566928"/>
          </a:xfrm>
          <a:prstGeom prst="ellipse">
            <a:avLst/>
          </a:prstGeom>
          <a:solidFill>
            <a:srgbClr val="35597D"/>
          </a:solidFill>
          <a:ln/>
        </p:spPr>
      </p:sp>
      <p:pic>
        <p:nvPicPr>
          <p:cNvPr id="11" name="Image 1" descr="ritmo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57" y="290888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624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Membresía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2980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 RECURRENTE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023360" y="26517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5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 planes simples, mensual y anual: el motor de ingreso predecible y la base del valor de vida del cliente.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60120" y="3520440"/>
            <a:ext cx="10652760" cy="0"/>
          </a:xfrm>
          <a:prstGeom prst="line">
            <a:avLst/>
          </a:prstGeom>
          <a:noFill/>
          <a:ln w="12700">
            <a:solidFill>
              <a:srgbClr val="D9CBB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76656" y="3657600"/>
            <a:ext cx="566928" cy="566928"/>
          </a:xfrm>
          <a:prstGeom prst="ellipse">
            <a:avLst/>
          </a:prstGeom>
          <a:solidFill>
            <a:srgbClr val="35597D"/>
          </a:solidFill>
          <a:ln/>
        </p:spPr>
      </p:sp>
      <p:pic>
        <p:nvPicPr>
          <p:cNvPr id="17" name="Image 2" descr="pausas_cr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380500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Pausas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508760" y="3877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FRECUENCIA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023360" y="354787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5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Sesiones cortas de 15–30′ que aumentan las visitas por semana con costo marginal casi nulo.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60120" y="4416552"/>
            <a:ext cx="10652760" cy="0"/>
          </a:xfrm>
          <a:prstGeom prst="line">
            <a:avLst/>
          </a:prstGeom>
          <a:noFill/>
          <a:ln w="12700">
            <a:solidFill>
              <a:srgbClr val="D9CBB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" y="4553712"/>
            <a:ext cx="566928" cy="566928"/>
          </a:xfrm>
          <a:prstGeom prst="ellipse">
            <a:avLst/>
          </a:prstGeom>
          <a:solidFill>
            <a:srgbClr val="35597D"/>
          </a:solidFill>
          <a:ln/>
        </p:spPr>
      </p:sp>
      <p:pic>
        <p:nvPicPr>
          <p:cNvPr id="23" name="Image 3" descr="gestos_cre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" y="470111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4416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Regalos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1508760" y="4773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 Y COMUNIDAD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4023360" y="444398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5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Regalar y traer acompañantes abren un canal de adquisición orgánico, casi sin costo de marketing.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960120" y="5312664"/>
            <a:ext cx="10652760" cy="0"/>
          </a:xfrm>
          <a:prstGeom prst="line">
            <a:avLst/>
          </a:prstGeom>
          <a:noFill/>
          <a:ln w="12700">
            <a:solidFill>
              <a:srgbClr val="D9CBB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76656" y="5449824"/>
            <a:ext cx="566928" cy="566928"/>
          </a:xfrm>
          <a:prstGeom prst="ellipse">
            <a:avLst/>
          </a:prstGeom>
          <a:solidFill>
            <a:srgbClr val="35597D"/>
          </a:solidFill>
          <a:ln/>
        </p:spPr>
      </p:sp>
      <p:pic>
        <p:nvPicPr>
          <p:cNvPr id="29" name="Image 4" descr="espacio_cre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57" y="5597225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508760" y="5312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1508760" y="5669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 B2B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023360" y="534009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3F5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Alquiler del estudio para foto, rodajes, talleres y eventos: monetiza el activo físico fuera de las horas pico.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Marco de ingresos — HOY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F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HOY · Modelo de Valor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55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20095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ADQUISICIÓN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Bienvenida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350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quien llega — el primer paso, sin complicaciones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3977640" cy="4114800"/>
          </a:xfrm>
          <a:prstGeom prst="roundRect">
            <a:avLst>
              <a:gd name="adj" fmla="val 2759"/>
            </a:avLst>
          </a:prstGeom>
          <a:solidFill>
            <a:srgbClr val="2C4A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48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existe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95728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Puntos de entrada a precio bajo, pensados para bajar la barrera de la primera visita. No buscan rentabilidad inmediata: buscan que la persona pruebe una clase y decida seguir, alimentando el paso hacia la Membresía.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6812280" cy="731520"/>
          </a:xfrm>
          <a:prstGeom prst="roundRect">
            <a:avLst>
              <a:gd name="adj" fmla="val 10000"/>
            </a:avLst>
          </a:prstGeom>
          <a:solidFill>
            <a:srgbClr val="2C4A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929384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de Prueba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286000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clase, sin costo de entrada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61197" y="1828800"/>
            <a:ext cx="27230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$ 39.000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2724912"/>
            <a:ext cx="6812280" cy="731520"/>
          </a:xfrm>
          <a:prstGeom prst="roundRect">
            <a:avLst>
              <a:gd name="adj" fmla="val 10000"/>
            </a:avLst>
          </a:prstGeom>
          <a:solidFill>
            <a:srgbClr val="2C4A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2825496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Pase Individual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182112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visita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661197" y="2724912"/>
            <a:ext cx="27230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$ 58.000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3621024"/>
            <a:ext cx="6812280" cy="731520"/>
          </a:xfrm>
          <a:prstGeom prst="roundRect">
            <a:avLst>
              <a:gd name="adj" fmla="val 10000"/>
            </a:avLst>
          </a:prstGeom>
          <a:solidFill>
            <a:srgbClr val="2C4A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20640" y="3721608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Paquete de 3 Clases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078224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usar en un mes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661197" y="3621024"/>
            <a:ext cx="27230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$ 110.000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46320" y="4517136"/>
            <a:ext cx="6812280" cy="731520"/>
          </a:xfrm>
          <a:prstGeom prst="roundRect">
            <a:avLst>
              <a:gd name="adj" fmla="val 10000"/>
            </a:avLst>
          </a:prstGeom>
          <a:solidFill>
            <a:srgbClr val="2C4A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20640" y="4617720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Paquete de 10 Clases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4974336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usar en 3 meses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61197" y="4517136"/>
            <a:ext cx="27230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$ 490.000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 · propuesta v3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HOY · Modelo de Valor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55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20095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 RECURRENTE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Membresía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350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solo nivel de acceso, dos formas simples de pagarlo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3977640" cy="4114800"/>
          </a:xfrm>
          <a:prstGeom prst="roundRect">
            <a:avLst>
              <a:gd name="adj" fmla="val 2759"/>
            </a:avLst>
          </a:prstGeom>
          <a:solidFill>
            <a:srgbClr val="2C4A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48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existe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95728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núcleo económico del negocio, simplificado a dos opciones claras: mensual o anual. Mismo acceso completo a las clases en ambos casos — menos opciones, decisión más fácil, e ingreso recurrente (MRR/ARR) más predecible para el estudio.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6812280" cy="1389888"/>
          </a:xfrm>
          <a:prstGeom prst="roundRect">
            <a:avLst>
              <a:gd name="adj" fmla="val 5263"/>
            </a:avLst>
          </a:prstGeom>
          <a:solidFill>
            <a:srgbClr val="2C4A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2048256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Mensual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432304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acceso completo, mes a mes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61197" y="1828800"/>
            <a:ext cx="2723083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$ 520.000 / mes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46320" y="3383280"/>
            <a:ext cx="6812280" cy="1389888"/>
          </a:xfrm>
          <a:prstGeom prst="roundRect">
            <a:avLst>
              <a:gd name="adj" fmla="val 5263"/>
            </a:avLst>
          </a:prstGeom>
          <a:solidFill>
            <a:srgbClr val="2C4A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3602736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Anual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986784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acceso completo, pago anual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661197" y="3383280"/>
            <a:ext cx="2723083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$ 4.990.000 / año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5102352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Plan Anual equivale a cerca de $416.000 al mes: una forma simple de premiar el compromiso, sin necesidad de niveles intermedios.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 · propuesta v3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HOY · Modelo de Valor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20095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FRECUENCIA Y REFERIDO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Pausas &amp; Regalos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350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85B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Ingreso incremental que aumenta la frecuencia de visita y abre un canal de crecimiento orgánico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5597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029968"/>
            <a:ext cx="548640" cy="548640"/>
          </a:xfrm>
          <a:prstGeom prst="ellipse">
            <a:avLst/>
          </a:prstGeom>
          <a:solidFill>
            <a:srgbClr val="35597D"/>
          </a:solidFill>
          <a:ln/>
        </p:spPr>
      </p:sp>
      <p:pic>
        <p:nvPicPr>
          <p:cNvPr id="8" name="Image 0" descr="pausas_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172614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048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Pausas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85B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Sesiones cortas de 15 a 30 minutos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816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3F5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Micro-sesiones entre clases completas: elevan la frecuencia semanal por persona con costo marginal casi nulo para el estudio.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730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Pausa Individual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986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ingreso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37307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$ 24.000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297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Paquete de 10 Pausas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553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usar en 3 meses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$ 190.000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8646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Pausas Ilimitadas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120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complemento mensual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566160" y="4864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$ 95.000 / mes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63640" y="1938528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35597D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56248" y="2029968"/>
            <a:ext cx="548640" cy="548640"/>
          </a:xfrm>
          <a:prstGeom prst="ellipse">
            <a:avLst/>
          </a:prstGeom>
          <a:solidFill>
            <a:srgbClr val="35597D"/>
          </a:solidFill>
          <a:ln/>
        </p:spPr>
      </p:sp>
      <p:pic>
        <p:nvPicPr>
          <p:cNvPr id="23" name="Image 1" descr="gestos_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94" y="2172614"/>
            <a:ext cx="263347" cy="26334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269480" y="2048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Regalos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7269480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85B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compartir la experiencia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537960" y="2816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3F5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Regalar y compartir la experiencia son, en la práctica, el canal de referido de HOY: nuevas personas llegan a través de alguien que ya conoce el estudio.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537960" y="3730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Bono de Regalo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6537960" y="3986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regalar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9281160" y="37307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$ 58.000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537960" y="4297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Invitado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6537960" y="4553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socios de Membresía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928116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3559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incluido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537960" y="51023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F85B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Efecto: cada bono trae a alguien nuevo al estudio, a un costo de adquisición cercano a cero.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F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 · propuesta v3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FA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HOY · Modelo de Valor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55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20095" y="320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5F8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38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 B2B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3502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Alquiler del estudio — el activo físico como línea de negocio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3977640" cy="4114800"/>
          </a:xfrm>
          <a:prstGeom prst="roundRect">
            <a:avLst>
              <a:gd name="adj" fmla="val 2759"/>
            </a:avLst>
          </a:prstGeom>
          <a:solidFill>
            <a:srgbClr val="2C4A6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482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existe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95728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 estudio genera ingreso más allá de las clases: producciones, marcas y comunidades alquilan el espacio fuera de las horas de mayor demanda. Es la línea de ingreso menos dependiente del ciclo de membresías y con mayor techo por transacción.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6812280" cy="731520"/>
          </a:xfrm>
          <a:prstGeom prst="roundRect">
            <a:avLst>
              <a:gd name="adj" fmla="val 10000"/>
            </a:avLst>
          </a:prstGeom>
          <a:solidFill>
            <a:srgbClr val="2C4A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20640" y="1929384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 &amp; Video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286000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medio día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61197" y="1828800"/>
            <a:ext cx="27230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$ 700.000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2724912"/>
            <a:ext cx="6812280" cy="731520"/>
          </a:xfrm>
          <a:prstGeom prst="roundRect">
            <a:avLst>
              <a:gd name="adj" fmla="val 10000"/>
            </a:avLst>
          </a:prstGeom>
          <a:solidFill>
            <a:srgbClr val="2C4A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2825496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Talleres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182112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sesión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661197" y="2724912"/>
            <a:ext cx="27230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$ 350.000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46320" y="3621024"/>
            <a:ext cx="6812280" cy="731520"/>
          </a:xfrm>
          <a:prstGeom prst="roundRect">
            <a:avLst>
              <a:gd name="adj" fmla="val 10000"/>
            </a:avLst>
          </a:prstGeom>
          <a:solidFill>
            <a:srgbClr val="2C4A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20640" y="3721608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Sesión Privada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078224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sesión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661197" y="3621024"/>
            <a:ext cx="27230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$ 600.000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46320" y="4517136"/>
            <a:ext cx="6812280" cy="731520"/>
          </a:xfrm>
          <a:prstGeom prst="roundRect">
            <a:avLst>
              <a:gd name="adj" fmla="val 10000"/>
            </a:avLst>
          </a:prstGeom>
          <a:solidFill>
            <a:srgbClr val="2C4A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20640" y="4617720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Rodajes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4974336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día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61197" y="4517136"/>
            <a:ext cx="27230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$ 1.500.000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46320" y="5413248"/>
            <a:ext cx="6812280" cy="731520"/>
          </a:xfrm>
          <a:prstGeom prst="roundRect">
            <a:avLst>
              <a:gd name="adj" fmla="val 10000"/>
            </a:avLst>
          </a:prstGeom>
          <a:solidFill>
            <a:srgbClr val="2C4A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20640" y="5513832"/>
            <a:ext cx="3814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Pop-ups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5870448"/>
            <a:ext cx="38148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3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 evento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661197" y="5413248"/>
            <a:ext cx="27230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$ 2.200.000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 · propuesta v3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HOY · Modelo de Valor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55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disciplina detrás del modelo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88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1E7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solo estudio, cinco líneas de ingreso, una regla de capacidad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2C4A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848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tapetes por sesión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2C4A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83280" y="20848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017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clases al día — los 4 movimientos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2C4A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20848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017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clase diaria por persona, en cualquier plan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196596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2C4A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20848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3017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EE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líneas de ingreso activas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2C4A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4531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7F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importa para la inversión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91456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EEF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Bienvenida capta y la Membresía retiene; Pausas y Regalos suben la frecuencia y el referido a costo marginal bajo; el Espacio abre ingreso B2B sin depender del ciclo de membresías. Cinco palancas, un mismo estudio — con un límite de capacidad claro que protege la experiencia.</a:t>
            </a:r>
            <a:endParaRPr lang="en-US" sz="1300" dirty="0"/>
          </a:p>
        </p:txBody>
      </p:sp>
      <p:pic>
        <p:nvPicPr>
          <p:cNvPr id="19" name="Image 0" descr="hoy_yellow_matc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0"/>
            <a:ext cx="1234440" cy="51848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076895" y="6309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9D6E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vida es HOY.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2026-09-10T15:42:42Z</dcterms:created>
  <dcterms:modified xsi:type="dcterms:W3CDTF">2026-09-10T15:42:42Z</dcterms:modified>
</cp:coreProperties>
</file>